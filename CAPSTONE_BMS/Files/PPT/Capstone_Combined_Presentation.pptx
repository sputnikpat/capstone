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4239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— Krish. Cover motivation + cell-level monitoring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— Krish. Problem statement + six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— Krish. Literature table +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1 — Krish. Architecture block diagram + component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 — Harshwardhan. SOC pipeline + formula + balancing flow + protection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 — Harshwardhan. Firmware loop + validation checklist +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 — Harshwardhan. Walk through the 15-week Gantt chart with review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2 — Harshwardhan. Applications, limitations,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 — Nihar. DT problem + literature cards +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 — Nihar. Three architecture layers + HW/SW stacks.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 — Nihar. DT methodology phases + applications +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3 — Nihar. Acknowledgement.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MAJOR PROJECT — PHASE-I APPROVAL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Management System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Hybrid Bridge Digital Twin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Guidance of  Dr. Avinash More  &amp;  Dr. Anjana Rodrigues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7680960" cy="18288"/>
          </a:xfrm>
          <a:prstGeom prst="rect">
            <a:avLst/>
          </a:prstGeom>
          <a:solidFill>
            <a:srgbClr val="2A30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 Rajgor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73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D023 — 70062300033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Harshwardhan Patil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273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D048 — 70062200035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34747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3504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Nihar Lad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327355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D038 — 70062100151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4747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Electronics &amp; Telecommunication Engineering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— MPSTME, Mumbai  |  Academic Year 2024–25 / 2026–27  |  Semester VII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Smart BMS Is Necessary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Li-ion batteries operate in a narrow safe window. A BMS monitors, protects and manages the pack. The weakest cell limits the entire series pack — not total pack voltage.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64008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OVER-CHARGE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9202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voltage exceeds safe limit — degradation risk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377440"/>
            <a:ext cx="64008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DISCHARGE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voltage too low — capacity loss &amp; damage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834640"/>
            <a:ext cx="64008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8346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IMBALANCE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28346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drift to different voltages — capacity lost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91840"/>
            <a:ext cx="80467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291840"/>
            <a:ext cx="64008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29184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RISK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29184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beyond limit — fast protection needed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58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069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4.18 V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651760" y="38404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2651760" y="3858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4069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4.12 V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754880" y="38404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858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4.20 V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6858000" y="38404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8587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069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 V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Challenge &amp;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differ in capacity, resistance &amp; thermal behaviour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39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causes uneven charge/discharge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solutions costly for prototypes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DESIRED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embedded BMS for real-time monitoring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39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 protection during abnormal conditions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86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balancing + SOC + wireless diagnostics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Voltage Monitoring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221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22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&amp; Temperature Sensing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61104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6110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261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Shunt Balancing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via Coulomb Counting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822192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221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0" y="3822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OVP/UVP/OCP/OTP Protection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261104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26110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426110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+ Wi-Fi Diagnostics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Gap Analysis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75564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 Area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Estimation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EKF / model-based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Computationally complex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Balancing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resistor shunt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&amp; low-cost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lost as heat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Thermal Monitoring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Multi-point NTC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Low-cost coverage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remote visibility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Fault Protection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Solid-state switching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response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32004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200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GAP: A modular platform combining cell-level sensing, passive balancing, SOC estimation, fault protection, and OLED/Wi-Fi diagnostics at embedded-system level.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HARDWARE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71600" cy="91440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3S/4S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371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V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20116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+ T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66160" y="146304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12080" y="137160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201168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PROTECT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0" y="164592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45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</a:t>
            </a:r>
            <a:endParaRPr lang="en-US" sz="9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201168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28800" y="162763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28800" y="226771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291840" y="162763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91840" y="226771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937760" y="162763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937760" y="2267712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09360" y="1920240"/>
            <a:ext cx="274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→ Processing → Decision → Action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1814"/>
              </p:ext>
            </p:extLst>
          </p:nvPr>
        </p:nvGraphicFramePr>
        <p:xfrm>
          <a:off x="457200" y="3063240"/>
          <a:ext cx="8229600" cy="175564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latin typeface="Arial" charset="0"/>
                          <a:ea typeface="Arial" charset="0"/>
                          <a:cs typeface="Arial" charset="0"/>
                        </a:rPr>
                        <a:t>STM32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Control, ADC, Wi-Fi/BT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32-bit dual-core, 12-bit SAR ADC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ACS712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Bidirectional current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Hall-effect sensor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 NTC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Voltage-divider arrangement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MOSFET+Shunt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Passive balancing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Controlled dissipation path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Optocoupler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 isolation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Control/power isolation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OLED/Wi-Fi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status &amp; 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45720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Estimation, Balancing &amp; Protection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52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V, I, 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8308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2344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252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6916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12344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1252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16916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Coulomb 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5780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12344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252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16916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correction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95160" y="1417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0" y="12344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252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169164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OLED+Wi-Fi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194560"/>
            <a:ext cx="7680960" cy="411480"/>
          </a:xfrm>
          <a:prstGeom prst="roundRect">
            <a:avLst>
              <a:gd name="adj" fmla="val 13333"/>
            </a:avLst>
          </a:prstGeom>
          <a:solidFill>
            <a:srgbClr val="1A1F4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194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SOC(k) = SOC(k−1) − [ I(k) × Δt / Capacity ] × 100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7200" y="2788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BALANCING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08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280160" y="32004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17320" y="3108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/>
        </p:spPr>
      </p:sp>
      <p:sp>
        <p:nvSpPr>
          <p:cNvPr id="35" name="Text 33"/>
          <p:cNvSpPr/>
          <p:nvPr/>
        </p:nvSpPr>
        <p:spPr>
          <a:xfrm>
            <a:off x="141732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MOSFET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331720" y="32004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468880" y="3108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246888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10Ω SHUNT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0" y="3200400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520440" y="310896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</a:t>
            </a:r>
            <a:endParaRPr lang="en-US" sz="80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DISSIPATED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27889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LOGIC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063240"/>
          <a:ext cx="3931920" cy="1207008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Trigger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≥ 4.25V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charge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UVP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 ≤ 2.80V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 load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≥ 15A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Shutdown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B5CF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≥ 60°C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Isolate pack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" name="Text 41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Balancing: simple &amp; low-cost  |  Limitation: energy dissipated as heat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FIRMWARE &amp;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Loop &amp; Testing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13258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1A1F4B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325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87452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874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Sensors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237744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V, I, 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8803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+ Faults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73736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24028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06240" y="2743200"/>
            <a:ext cx="0" cy="10972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69280" y="2880360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→ Alert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37744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77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88036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OLED + Wi-Fi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Layered: Sense → Process → Estimate → Protect → Actuate → Report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9476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PLAN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00507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Cell voltage  ✓ Current sensing  ✓ Temperature  ✓ Balancing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OVP/UVP  ✓ OCP/OTP  ✓ SOC estimation  ✓ Wi-Fi monitoring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12080" y="3749040"/>
            <a:ext cx="347472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3794760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400507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24%  |  STM32 18%  |  Sensors 18%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MOSFET 16%  |  Display 14%  |  Misc 10%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Gantt 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13944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7" name="Text 5"/>
          <p:cNvSpPr/>
          <p:nvPr/>
        </p:nvSpPr>
        <p:spPr>
          <a:xfrm>
            <a:off x="313944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53568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9" name="Text 7"/>
          <p:cNvSpPr/>
          <p:nvPr/>
        </p:nvSpPr>
        <p:spPr>
          <a:xfrm>
            <a:off x="353568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93192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2816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13" name="Text 11"/>
          <p:cNvSpPr/>
          <p:nvPr/>
        </p:nvSpPr>
        <p:spPr>
          <a:xfrm>
            <a:off x="432816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72440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15" name="Text 13"/>
          <p:cNvSpPr/>
          <p:nvPr/>
        </p:nvSpPr>
        <p:spPr>
          <a:xfrm>
            <a:off x="472440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W6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12064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51688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19" name="Text 17"/>
          <p:cNvSpPr/>
          <p:nvPr/>
        </p:nvSpPr>
        <p:spPr>
          <a:xfrm>
            <a:off x="551688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1312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21" name="Text 19"/>
          <p:cNvSpPr/>
          <p:nvPr/>
        </p:nvSpPr>
        <p:spPr>
          <a:xfrm>
            <a:off x="591312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30936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W10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70560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25" name="Text 23"/>
          <p:cNvSpPr/>
          <p:nvPr/>
        </p:nvSpPr>
        <p:spPr>
          <a:xfrm>
            <a:off x="670560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10184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27" name="Text 25"/>
          <p:cNvSpPr/>
          <p:nvPr/>
        </p:nvSpPr>
        <p:spPr>
          <a:xfrm>
            <a:off x="710184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49808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89432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31" name="Text 29"/>
          <p:cNvSpPr/>
          <p:nvPr/>
        </p:nvSpPr>
        <p:spPr>
          <a:xfrm>
            <a:off x="789432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290560" y="1280160"/>
            <a:ext cx="396240" cy="320040"/>
          </a:xfrm>
          <a:prstGeom prst="rect">
            <a:avLst/>
          </a:prstGeom>
          <a:solidFill>
            <a:srgbClr val="1A1F4B"/>
          </a:solidFill>
          <a:ln/>
        </p:spPr>
      </p:sp>
      <p:sp>
        <p:nvSpPr>
          <p:cNvPr id="33" name="Text 31"/>
          <p:cNvSpPr/>
          <p:nvPr/>
        </p:nvSpPr>
        <p:spPr>
          <a:xfrm>
            <a:off x="8290560" y="1280160"/>
            <a:ext cx="39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W15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82880" y="1600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 Review &amp; Topic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74320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13944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3568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3192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816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440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2064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1688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1312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0560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0184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9432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90560" y="160020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61488" y="1655064"/>
            <a:ext cx="755904" cy="210312"/>
          </a:xfrm>
          <a:prstGeom prst="roundRect">
            <a:avLst>
              <a:gd name="adj" fmla="val 17391"/>
            </a:avLst>
          </a:pr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182880" y="1920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13944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3568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3192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2816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2440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1688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1312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0936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560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0184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9808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9432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90560" y="192024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157728" y="1975104"/>
            <a:ext cx="1152144" cy="210312"/>
          </a:xfrm>
          <a:prstGeom prst="roundRect">
            <a:avLst>
              <a:gd name="adj" fmla="val 17391"/>
            </a:avLst>
          </a:prstGeom>
          <a:solidFill>
            <a:srgbClr val="14B8A6"/>
          </a:solidFill>
          <a:ln/>
        </p:spPr>
      </p:sp>
      <p:sp>
        <p:nvSpPr>
          <p:cNvPr id="68" name="Text 66"/>
          <p:cNvSpPr/>
          <p:nvPr/>
        </p:nvSpPr>
        <p:spPr>
          <a:xfrm>
            <a:off x="182880" y="22402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74320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13944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53568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3192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32816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2440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12064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51688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91312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0936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0560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0184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49808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89432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90560" y="224028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157728" y="2295144"/>
            <a:ext cx="359664" cy="210312"/>
          </a:xfrm>
          <a:prstGeom prst="roundRect">
            <a:avLst>
              <a:gd name="adj" fmla="val 17391"/>
            </a:avLst>
          </a:prstGeom>
          <a:solidFill>
            <a:srgbClr val="EF4444"/>
          </a:solidFill>
          <a:ln/>
        </p:spPr>
      </p:sp>
      <p:sp>
        <p:nvSpPr>
          <p:cNvPr id="85" name="Text 83"/>
          <p:cNvSpPr/>
          <p:nvPr/>
        </p:nvSpPr>
        <p:spPr>
          <a:xfrm>
            <a:off x="182880" y="25603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&amp; Firmware (BMS)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274320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3944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3568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3192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32816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2440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12064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51688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91312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0936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0560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10184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9808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89432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90560" y="256032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50208" y="2615184"/>
            <a:ext cx="1944624" cy="210312"/>
          </a:xfrm>
          <a:prstGeom prst="roundRect">
            <a:avLst>
              <a:gd name="adj" fmla="val 17391"/>
            </a:avLst>
          </a:prstGeom>
          <a:solidFill>
            <a:srgbClr val="22C55E"/>
          </a:solidFill>
          <a:ln/>
        </p:spPr>
      </p:sp>
      <p:sp>
        <p:nvSpPr>
          <p:cNvPr id="102" name="Text 100"/>
          <p:cNvSpPr/>
          <p:nvPr/>
        </p:nvSpPr>
        <p:spPr>
          <a:xfrm>
            <a:off x="182880" y="28803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&amp; Sensors (DT)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274320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13944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3568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93192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32816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72440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12064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1688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1312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30936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70560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0184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49808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89432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290560" y="288036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50208" y="2935224"/>
            <a:ext cx="1548384" cy="210312"/>
          </a:xfrm>
          <a:prstGeom prst="roundRect">
            <a:avLst>
              <a:gd name="adj" fmla="val 17391"/>
            </a:avLst>
          </a:prstGeom>
          <a:solidFill>
            <a:srgbClr val="8B5CF6"/>
          </a:solidFill>
          <a:ln/>
        </p:spPr>
      </p:sp>
      <p:sp>
        <p:nvSpPr>
          <p:cNvPr id="119" name="Text 117"/>
          <p:cNvSpPr/>
          <p:nvPr/>
        </p:nvSpPr>
        <p:spPr>
          <a:xfrm>
            <a:off x="182880" y="3200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2: Midterm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74320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13944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53568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93192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32816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72440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2064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51688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91312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30936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70560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10184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49808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89432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290560" y="320040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138928" y="3255264"/>
            <a:ext cx="359664" cy="210312"/>
          </a:xfrm>
          <a:prstGeom prst="roundRect">
            <a:avLst>
              <a:gd name="adj" fmla="val 17391"/>
            </a:avLst>
          </a:prstGeom>
          <a:solidFill>
            <a:srgbClr val="EF4444"/>
          </a:solidFill>
          <a:ln/>
        </p:spPr>
      </p:sp>
      <p:sp>
        <p:nvSpPr>
          <p:cNvPr id="136" name="Text 134"/>
          <p:cNvSpPr/>
          <p:nvPr/>
        </p:nvSpPr>
        <p:spPr>
          <a:xfrm>
            <a:off x="18288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&amp; Testing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74320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13944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53568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93192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32816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72440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12064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551688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91312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630936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70560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10184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49808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89432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290560" y="352044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535168" y="3575304"/>
            <a:ext cx="1548384" cy="210312"/>
          </a:xfrm>
          <a:prstGeom prst="roundRect">
            <a:avLst>
              <a:gd name="adj" fmla="val 17391"/>
            </a:avLst>
          </a:prstGeom>
          <a:solidFill>
            <a:srgbClr val="F59E0B"/>
          </a:solidFill>
          <a:ln/>
        </p:spPr>
      </p:sp>
      <p:sp>
        <p:nvSpPr>
          <p:cNvPr id="153" name="Text 151"/>
          <p:cNvSpPr/>
          <p:nvPr/>
        </p:nvSpPr>
        <p:spPr>
          <a:xfrm>
            <a:off x="182880" y="3840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Model (DT)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274320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13944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53568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93192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32816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72440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12064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51688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591312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30936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70560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10184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49808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89432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290560" y="384048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931408" y="3895344"/>
            <a:ext cx="1548384" cy="210312"/>
          </a:xfrm>
          <a:prstGeom prst="roundRect">
            <a:avLst>
              <a:gd name="adj" fmla="val 17391"/>
            </a:avLst>
          </a:prstGeom>
          <a:solidFill>
            <a:srgbClr val="8B5CF6"/>
          </a:solidFill>
          <a:ln/>
        </p:spPr>
      </p:sp>
      <p:sp>
        <p:nvSpPr>
          <p:cNvPr id="170" name="Text 168"/>
          <p:cNvSpPr/>
          <p:nvPr/>
        </p:nvSpPr>
        <p:spPr>
          <a:xfrm>
            <a:off x="18288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274320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13944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353568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93192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432816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72440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12064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51688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91312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30936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70560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0184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49808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89432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290560" y="4160520"/>
            <a:ext cx="39624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723888" y="4215384"/>
            <a:ext cx="1548384" cy="210312"/>
          </a:xfrm>
          <a:prstGeom prst="roundRect">
            <a:avLst>
              <a:gd name="adj" fmla="val 17391"/>
            </a:avLst>
          </a:prstGeom>
          <a:solidFill>
            <a:srgbClr val="94A3B8"/>
          </a:solidFill>
          <a:ln/>
        </p:spPr>
      </p:sp>
      <p:sp>
        <p:nvSpPr>
          <p:cNvPr id="187" name="Text 185"/>
          <p:cNvSpPr/>
          <p:nvPr/>
        </p:nvSpPr>
        <p:spPr>
          <a:xfrm>
            <a:off x="182880" y="44805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3: Final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274320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13944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53568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93192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32816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72440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512064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551688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591312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630936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670560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10184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49808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89432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290560" y="4480560"/>
            <a:ext cx="39624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308848" y="4535424"/>
            <a:ext cx="359664" cy="210312"/>
          </a:xfrm>
          <a:prstGeom prst="roundRect">
            <a:avLst>
              <a:gd name="adj" fmla="val 17391"/>
            </a:avLst>
          </a:prstGeom>
          <a:solidFill>
            <a:srgbClr val="EF4444"/>
          </a:solidFill>
          <a:ln/>
        </p:spPr>
      </p:sp>
      <p:sp>
        <p:nvSpPr>
          <p:cNvPr id="205" name="Text 202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206" name="Text 203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BMS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Limitations &amp; Future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2W/3W electric mobility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500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PV energy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2549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Stationary BESS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009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 and UAVs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764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platforms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balancing dissipates energy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20440" y="23500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Coulomb Counting drifts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82549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sensor accuracy limits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33009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thermal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7764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needs further work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balancing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35000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Bus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825496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EKF/UKF SOC estimation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3009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 + ML prediction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77647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monitoring + thermal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3 — PROJECT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Bridge Digital Twin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Structural Health Monitoring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8163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Civil infrastructure faces continuous environmental stressors and dynamic traffic loads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Traditional visual inspections lack real-time awareness — Digital Twins synchronize physical assets with computational models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47149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Our project: functional DT using affordable IoT sensors and RGB-D depth mapping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84825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Motivation: DT adoption bottlenecked by prohibitive LiDAR &amp; proprietary DAQ costs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LITERATURE &amp;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6254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 Gap &amp; Project Goals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integrated, low-cost framework merges multi-parameter sensing, depth-camera baselining, and predictive FE modeling for real-time structural anomaly detection.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Wireless SHM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ESP32/Pi log data but lack model comparison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Vibration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3591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shifts flag stiffness loss; needs thermal compensation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69748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Baselining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3591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Low-cost RealSense viable for 3D geometry vs LiDAR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8283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71523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17243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17243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 3D-printed truss bridge testbed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033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5426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multi-sensor suite (strain, vibration, load, temp)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46220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68234" y="40609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062549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depth camera for 3D baseline geometry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69524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68234" y="436952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4349931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Reduced-Order Finite Element Model (ROM)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47111"/>
            <a:ext cx="8229600" cy="27432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60173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65364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health: Normal / Warning / Damaged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934493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Layers &amp; Tech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64008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984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3D-printed truss bridge on mechanically controlled loading rig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64008" cy="5943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842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2402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 gauges, 3-axis accelerometer, load cell (HX711), DHT22, Intel RealSense D435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651760"/>
            <a:ext cx="64008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700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926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Reduced-Order FE Model + FastAPI/WebSocket + React/Plotly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RealSense D435 RGB-D Camera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9136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 Gauges &amp; 3-Axis Accelerometer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0965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Cell (HX711) + DHT22 Temp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 Microcontroller Edge 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42900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307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Python, FastAPI, WebSockets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9136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FFT scripts for vibration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09651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Modeling: Reduced-Order FE Model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27939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&amp; Plotly Dashboard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&amp; 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 &amp;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Fabrication, sensor mounting &amp; baseline 3D scanning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loading &amp; dynamic vibration tap testing (FFT)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4–5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calibration &amp; live dashboard anomaly validation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325880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optimization, latency testing &amp; documentation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APPLICATIONS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Municipal Infrastructure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 bridge monitoring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Response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post-earthquake assessment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040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Cloud-connected predictive maintenance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7033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Conveyor truss &amp; gantry health monitoring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160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Farrar &amp; Worden (2012) — SHM  [2] Tao et al. (2018) — DT in Industry  [3] Torzoni et al. (2020) — SHM via ROM  [4] Ye et al. (2016) — Structural Displacement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Gratitude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express our sincere gratitude to our guides, Dr. Avinash More and Dr. Anjana Rodrigues, for their invaluable mentorship, guidance and support throughout this project.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thanks to the Department of Electronics and Telecommunication Engineering at MPSTME, SVKM's NMIMS, for providing the necessary laboratory facilities and resources.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7680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Krish Rajgor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D023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Harshwardhan Patil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D048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3566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Nihar Lad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82219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No: D038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SVKM's NMIMS | MPSTME | Dept. of E&amp;TC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Monitoring to Intelligence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Management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Cell-level V, I, T monitoring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842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ESP32 real-time 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768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Passive balancing + Coulomb SOC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94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Multi-level OVP/UVP/OCP/OTP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62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Modular platform for future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Bridge Digital Twin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Low-cost RGB-D + IoT 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842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3D-printed testbed + multi-sensor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7685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Reduced-Order FE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694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Real-time health classification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862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Scalable to municipal &amp; industrial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3840480"/>
            <a:ext cx="9144000" cy="18288"/>
          </a:xfrm>
          <a:prstGeom prst="rect">
            <a:avLst/>
          </a:prstGeom>
          <a:solidFill>
            <a:srgbClr val="2A307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projects demonstrate how embedded systems, sensing, and computational models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improve safety, reliability and observability in critical applications.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Feedback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1646</Words>
  <Application>Microsoft Office PowerPoint</Application>
  <PresentationFormat>On-screen Show (16:9)</PresentationFormat>
  <Paragraphs>376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Harshwardan Patil</cp:lastModifiedBy>
  <cp:revision>4</cp:revision>
  <dcterms:created xsi:type="dcterms:W3CDTF">2026-07-24T20:18:24Z</dcterms:created>
  <dcterms:modified xsi:type="dcterms:W3CDTF">2026-07-24T20:29:01Z</dcterms:modified>
</cp:coreProperties>
</file>